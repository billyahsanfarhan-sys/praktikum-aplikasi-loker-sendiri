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C"/>
          </a:solidFill>
          <a:ln w="6350">
            <a:solidFill>
              <a:srgbClr val="10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097280"/>
            <a:ext cx="5943600" cy="5943600"/>
          </a:xfrm>
          <a:prstGeom prst="ellipse">
            <a:avLst/>
          </a:prstGeom>
          <a:solidFill>
            <a:srgbClr val="1C345F"/>
          </a:solidFill>
          <a:ln w="12700">
            <a:solidFill>
              <a:srgbClr val="1C34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023360"/>
            <a:ext cx="3474720" cy="3474720"/>
          </a:xfrm>
          <a:prstGeom prst="ellipse">
            <a:avLst/>
          </a:prstGeom>
          <a:solidFill>
            <a:srgbClr val="273F6D"/>
          </a:solidFill>
          <a:ln w="12700">
            <a:solidFill>
              <a:srgbClr val="273F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731520"/>
            <a:ext cx="2468880" cy="320040"/>
          </a:xfrm>
          <a:prstGeom prst="roundRect">
            <a:avLst>
              <a:gd name="adj" fmla="val 34286"/>
            </a:avLst>
          </a:prstGeom>
          <a:solidFill>
            <a:srgbClr val="315CF5"/>
          </a:solidFill>
          <a:ln w="6350">
            <a:solidFill>
              <a:srgbClr val="315C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74523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APLIKASI ANDROID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</a:t>
            </a:r>
            <a:endParaRPr lang="en-US" sz="5300" dirty="0"/>
          </a:p>
        </p:txBody>
      </p:sp>
      <p:sp>
        <p:nvSpPr>
          <p:cNvPr id="8" name="Text 6"/>
          <p:cNvSpPr/>
          <p:nvPr/>
        </p:nvSpPr>
        <p:spPr>
          <a:xfrm>
            <a:off x="685800" y="2624328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 kerja lebih mudah, cepat, dan terarah.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504748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FC3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Presentasi konsep produk, fitur, alur pengguna, dan tiga alternatif desain UI.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394192" y="850392"/>
            <a:ext cx="2606040" cy="5276088"/>
          </a:xfrm>
          <a:prstGeom prst="roundRect">
            <a:avLst>
              <a:gd name="adj" fmla="val 8772"/>
            </a:avLst>
          </a:prstGeom>
          <a:solidFill>
            <a:srgbClr val="DAE1ED"/>
          </a:solidFill>
          <a:ln w="6350">
            <a:solidFill>
              <a:srgbClr val="DAE1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923544"/>
            <a:ext cx="2478024" cy="5129784"/>
          </a:xfrm>
          <a:prstGeom prst="roundRect">
            <a:avLst>
              <a:gd name="adj" fmla="val 8487"/>
            </a:avLst>
          </a:prstGeom>
          <a:solidFill>
            <a:srgbClr val="F6F8FC"/>
          </a:solidFill>
          <a:ln w="6350">
            <a:solidFill>
              <a:srgbClr val="F6F8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58427" y="960120"/>
            <a:ext cx="677570" cy="54864"/>
          </a:xfrm>
          <a:prstGeom prst="roundRect">
            <a:avLst>
              <a:gd name="adj" fmla="val 266667"/>
            </a:avLst>
          </a:prstGeom>
          <a:solidFill>
            <a:srgbClr val="B8C2D4"/>
          </a:solidFill>
          <a:ln w="6350">
            <a:solidFill>
              <a:srgbClr val="B8C2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50224" y="129844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Halo, pencari kerja!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41080" y="1737360"/>
            <a:ext cx="2093976" cy="521208"/>
          </a:xfrm>
          <a:prstGeom prst="roundRect">
            <a:avLst>
              <a:gd name="adj" fmla="val 28070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0808" y="18653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 posisi atau perusahaan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50224" y="2468880"/>
            <a:ext cx="1207008" cy="320040"/>
          </a:xfrm>
          <a:prstGeom prst="roundRect">
            <a:avLst>
              <a:gd name="adj" fmla="val 34286"/>
            </a:avLst>
          </a:prstGeom>
          <a:solidFill>
            <a:srgbClr val="315CF5"/>
          </a:solidFill>
          <a:ln w="6350">
            <a:solidFill>
              <a:srgbClr val="315C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23376" y="248259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Rekomendasi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22792" y="2926080"/>
            <a:ext cx="214884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3090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654D4"/>
          </a:solidFill>
          <a:ln w="6350">
            <a:solidFill>
              <a:srgbClr val="765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3108960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90888" y="3026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90888" y="334670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Nusa Digital  •  Remote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8622792" y="3886200"/>
            <a:ext cx="214884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40507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C9275"/>
          </a:solidFill>
          <a:ln w="6350">
            <a:solidFill>
              <a:srgbClr val="0C92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4069080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90888" y="3986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90888" y="430682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Karya Tech  •  Jakarta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6350">
            <a:solidFill>
              <a:srgbClr val="F4F7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GAMBARAN PRODUK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itu LokerKu?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mobile untuk mempertemukan pencari kerja dengan informasi lowongan yang relevan.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501384"/>
            <a:ext cx="10927080" cy="22860"/>
          </a:xfrm>
          <a:prstGeom prst="rect">
            <a:avLst/>
          </a:prstGeom>
          <a:solidFill>
            <a:srgbClr val="D8DFEB"/>
          </a:solidFill>
          <a:ln w="6350">
            <a:solidFill>
              <a:srgbClr val="D8D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  •  KONSEP DESAIN APLIKASI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" y="2212848"/>
            <a:ext cx="6355080" cy="3319272"/>
          </a:xfrm>
          <a:prstGeom prst="roundRect">
            <a:avLst>
              <a:gd name="adj" fmla="val 440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560320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yang ingin diselesaikan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05840" y="3300984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3182112"/>
            <a:ext cx="5248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lowongan tersebar di banyak kanal.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3959352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3840480"/>
            <a:ext cx="5248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 kerja kesulitan menyaring posisi yang cocok.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617720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4498848"/>
            <a:ext cx="5248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syarat, lokasi, dan batas lamaran sering tidak ringkas.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42632" y="2212848"/>
            <a:ext cx="4096512" cy="3319272"/>
          </a:xfrm>
          <a:prstGeom prst="roundRect">
            <a:avLst>
              <a:gd name="adj" fmla="val 4408"/>
            </a:avLst>
          </a:prstGeom>
          <a:solidFill>
            <a:srgbClr val="E4EDFF"/>
          </a:solidFill>
          <a:ln w="6350">
            <a:solidFill>
              <a:srgbClr val="E4E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257860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Solusi LokerKu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80960" y="3246120"/>
            <a:ext cx="327355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tempat untuk menemukan, memfilter, menyimpan, dan menelusuri proses lamaran pekerjaan.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6350">
            <a:solidFill>
              <a:srgbClr val="F4F7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TUJUAN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 dan manfaat aplikasi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kepada pengalaman pencari kerja yang sederhana dan informatif.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501384"/>
            <a:ext cx="10927080" cy="22860"/>
          </a:xfrm>
          <a:prstGeom prst="rect">
            <a:avLst/>
          </a:prstGeom>
          <a:solidFill>
            <a:srgbClr val="D8DFEB"/>
          </a:solidFill>
          <a:ln w="6350">
            <a:solidFill>
              <a:srgbClr val="D8D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  •  KONSEP DESAIN APLIKASI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167128"/>
            <a:ext cx="3557016" cy="3227832"/>
          </a:xfrm>
          <a:prstGeom prst="roundRect">
            <a:avLst>
              <a:gd name="adj" fmla="val 45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2532888"/>
            <a:ext cx="640080" cy="640080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6060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7552" y="34655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Mudah ditemukan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87552" y="4087368"/>
            <a:ext cx="279806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Pencarian berdasarkan posisi, lokasi, tipe kerja, dan kata kunci.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80560" y="2167128"/>
            <a:ext cx="3557016" cy="3227832"/>
          </a:xfrm>
          <a:prstGeom prst="roundRect">
            <a:avLst>
              <a:gd name="adj" fmla="val 45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532888"/>
            <a:ext cx="640080" cy="640080"/>
          </a:xfrm>
          <a:prstGeom prst="ellipse">
            <a:avLst/>
          </a:prstGeom>
          <a:solidFill>
            <a:srgbClr val="7654D4"/>
          </a:solidFill>
          <a:ln w="12700">
            <a:solidFill>
              <a:srgbClr val="765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6060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09744" y="34655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jelas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09744" y="4087368"/>
            <a:ext cx="279806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pekerjaan, kualifikasi, perusahaan, dan cara melamar.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02752" y="2167128"/>
            <a:ext cx="3557016" cy="3227832"/>
          </a:xfrm>
          <a:prstGeom prst="roundRect">
            <a:avLst>
              <a:gd name="adj" fmla="val 45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22792" y="2532888"/>
            <a:ext cx="640080" cy="640080"/>
          </a:xfrm>
          <a:prstGeom prst="ellipse">
            <a:avLst/>
          </a:prstGeom>
          <a:solidFill>
            <a:srgbClr val="0C9275"/>
          </a:solidFill>
          <a:ln w="12700">
            <a:solidFill>
              <a:srgbClr val="0C92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22792" y="26060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631936" y="34655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Lebih terorganisir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31936" y="4087368"/>
            <a:ext cx="279806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Lowongan tersimpan serta riwayat lamaran dalam satu tempat.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6350">
            <a:solidFill>
              <a:srgbClr val="F4F7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FITUR UTAMA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Fitur yang direncanakan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Prioritas pengembangan aplikasi pencari kerja LokerKu.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501384"/>
            <a:ext cx="10927080" cy="22860"/>
          </a:xfrm>
          <a:prstGeom prst="rect">
            <a:avLst/>
          </a:prstGeom>
          <a:solidFill>
            <a:srgbClr val="D8DFEB"/>
          </a:solidFill>
          <a:ln w="6350">
            <a:solidFill>
              <a:srgbClr val="D8D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  •  KONSEP DESAIN APLIKASI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039112"/>
            <a:ext cx="3547872" cy="1472184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295144"/>
            <a:ext cx="448056" cy="448056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54580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99616" y="2295144"/>
            <a:ext cx="2395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Pencarian Lowongan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99616" y="2715768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Temukan lowongan menggunakan kata kunci.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2039112"/>
            <a:ext cx="3547872" cy="1472184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8304" y="2295144"/>
            <a:ext cx="448056" cy="448056"/>
          </a:xfrm>
          <a:prstGeom prst="ellipse">
            <a:avLst/>
          </a:prstGeom>
          <a:solidFill>
            <a:srgbClr val="0C9275"/>
          </a:solidFill>
          <a:ln w="12700">
            <a:solidFill>
              <a:srgbClr val="0C92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2354580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21808" y="2295144"/>
            <a:ext cx="2395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Pekerjaan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21808" y="2715768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Saring berdasarkan lokasi, kategori, dan jenis kerja.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02752" y="2039112"/>
            <a:ext cx="3547872" cy="1472184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0496" y="2295144"/>
            <a:ext cx="448056" cy="448056"/>
          </a:xfrm>
          <a:prstGeom prst="ellipse">
            <a:avLst/>
          </a:prstGeom>
          <a:solidFill>
            <a:srgbClr val="7654D4"/>
          </a:solidFill>
          <a:ln w="12700">
            <a:solidFill>
              <a:srgbClr val="765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2354580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0" y="2295144"/>
            <a:ext cx="2395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Lowongan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0" y="2715768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Lihat deskripsi, syarat, dan informasi perusahaan.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3776472"/>
            <a:ext cx="3547872" cy="1472184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4032504"/>
            <a:ext cx="448056" cy="448056"/>
          </a:xfrm>
          <a:prstGeom prst="ellipse">
            <a:avLst/>
          </a:prstGeom>
          <a:solidFill>
            <a:srgbClr val="EF854D"/>
          </a:solidFill>
          <a:ln w="12700">
            <a:solidFill>
              <a:srgbClr val="EF85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091940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99616" y="4032504"/>
            <a:ext cx="2395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Lowongan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499616" y="4453128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Tandai pekerjaan untuk dibaca kembali.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480560" y="3776472"/>
            <a:ext cx="3547872" cy="1472184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18304" y="4032504"/>
            <a:ext cx="448056" cy="448056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4091940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21808" y="4032504"/>
            <a:ext cx="2395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dan CV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321808" y="4453128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ringkasan diri dan dokumen pendukung.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302752" y="3776472"/>
            <a:ext cx="3547872" cy="1472184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40496" y="4032504"/>
            <a:ext cx="448056" cy="448056"/>
          </a:xfrm>
          <a:prstGeom prst="ellipse">
            <a:avLst/>
          </a:prstGeom>
          <a:solidFill>
            <a:srgbClr val="0C9275"/>
          </a:solidFill>
          <a:ln w="12700">
            <a:solidFill>
              <a:srgbClr val="0C92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0496" y="4091940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44000" y="4032504"/>
            <a:ext cx="2395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Riwayat Lamaran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144000" y="4453128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 status lamaran dan tindak lanjut.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6350">
            <a:solidFill>
              <a:srgbClr val="F4F7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PENGALAMAN PENGGUNA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penggunaan LokerKu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perjalanan pengguna dari mencari pekerjaan sampai melamar.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501384"/>
            <a:ext cx="10927080" cy="22860"/>
          </a:xfrm>
          <a:prstGeom prst="rect">
            <a:avLst/>
          </a:prstGeom>
          <a:solidFill>
            <a:srgbClr val="D8DFEB"/>
          </a:solidFill>
          <a:ln w="6350">
            <a:solidFill>
              <a:srgbClr val="D8D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  •  KONSEP DESAIN APLIKASI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2350008"/>
            <a:ext cx="2075688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9304" y="2596896"/>
            <a:ext cx="658368" cy="65836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27340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1856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aplikasi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2660904" y="2953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2916936" y="2350008"/>
            <a:ext cx="2075688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0168" y="2596896"/>
            <a:ext cx="658368" cy="65836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27340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26664" y="3566160"/>
            <a:ext cx="1856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 &amp; filter</a:t>
            </a:r>
            <a:endParaRPr lang="en-US" sz="1530" dirty="0"/>
          </a:p>
        </p:txBody>
      </p:sp>
      <p:sp>
        <p:nvSpPr>
          <p:cNvPr id="18" name="Text 16"/>
          <p:cNvSpPr/>
          <p:nvPr/>
        </p:nvSpPr>
        <p:spPr>
          <a:xfrm>
            <a:off x="5001768" y="2953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5257800" y="2350008"/>
            <a:ext cx="2075688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1032" y="2596896"/>
            <a:ext cx="658368" cy="65836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0176" y="27340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67528" y="3566160"/>
            <a:ext cx="1856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Baca detail</a:t>
            </a:r>
            <a:endParaRPr lang="en-US" sz="1530" dirty="0"/>
          </a:p>
        </p:txBody>
      </p:sp>
      <p:sp>
        <p:nvSpPr>
          <p:cNvPr id="23" name="Text 21"/>
          <p:cNvSpPr/>
          <p:nvPr/>
        </p:nvSpPr>
        <p:spPr>
          <a:xfrm>
            <a:off x="7342632" y="2953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7598664" y="2350008"/>
            <a:ext cx="2075688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11896" y="2596896"/>
            <a:ext cx="658368" cy="65836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7340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08392" y="3566160"/>
            <a:ext cx="1856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/ lamar</a:t>
            </a:r>
            <a:endParaRPr lang="en-US" sz="1530" dirty="0"/>
          </a:p>
        </p:txBody>
      </p:sp>
      <p:sp>
        <p:nvSpPr>
          <p:cNvPr id="28" name="Text 26"/>
          <p:cNvSpPr/>
          <p:nvPr/>
        </p:nvSpPr>
        <p:spPr>
          <a:xfrm>
            <a:off x="9683496" y="2953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9" name="Shape 27"/>
          <p:cNvSpPr/>
          <p:nvPr/>
        </p:nvSpPr>
        <p:spPr>
          <a:xfrm>
            <a:off x="9939528" y="2350008"/>
            <a:ext cx="2075688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0C9275"/>
          </a:solidFill>
          <a:ln w="12700">
            <a:solidFill>
              <a:srgbClr val="0C92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61904" y="27340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49256" y="3566160"/>
            <a:ext cx="1856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Pantau lamaran</a:t>
            </a:r>
            <a:endParaRPr lang="en-US" sz="1530" dirty="0"/>
          </a:p>
        </p:txBody>
      </p:sp>
      <p:sp>
        <p:nvSpPr>
          <p:cNvPr id="33" name="Text 31"/>
          <p:cNvSpPr/>
          <p:nvPr/>
        </p:nvSpPr>
        <p:spPr>
          <a:xfrm>
            <a:off x="768096" y="48006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Catatan: tombol “Lamar” dapat diarahkan ke situs resmi perekrut atau alur lamaran dalam aplikasi jika sudah dikembangkan.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6350">
            <a:solidFill>
              <a:srgbClr val="F4F7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ALTERNATIF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Desain A — Profesional Biru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Karakter: tepercaya, rapi, dan berorientasi informasi. Cocok untuk aplikasi karier umum.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501384"/>
            <a:ext cx="10927080" cy="22860"/>
          </a:xfrm>
          <a:prstGeom prst="rect">
            <a:avLst/>
          </a:prstGeom>
          <a:solidFill>
            <a:srgbClr val="D8DFEB"/>
          </a:solidFill>
          <a:ln w="6350">
            <a:solidFill>
              <a:srgbClr val="D8D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  •  KONSEP DESAIN APLIKASI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938528"/>
            <a:ext cx="2971800" cy="4279392"/>
          </a:xfrm>
          <a:prstGeom prst="roundRect">
            <a:avLst>
              <a:gd name="adj" fmla="val 7692"/>
            </a:avLst>
          </a:prstGeom>
          <a:solidFill>
            <a:srgbClr val="DAE1ED"/>
          </a:solidFill>
          <a:ln w="6350">
            <a:solidFill>
              <a:srgbClr val="DAE1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2011680"/>
            <a:ext cx="2843784" cy="4133088"/>
          </a:xfrm>
          <a:prstGeom prst="roundRect">
            <a:avLst>
              <a:gd name="adj" fmla="val 7395"/>
            </a:avLst>
          </a:prstGeom>
          <a:solidFill>
            <a:srgbClr val="F5F8FE"/>
          </a:solidFill>
          <a:ln w="6350">
            <a:solidFill>
              <a:srgbClr val="F5F8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5406" y="2048256"/>
            <a:ext cx="772668" cy="54864"/>
          </a:xfrm>
          <a:prstGeom prst="roundRect">
            <a:avLst>
              <a:gd name="adj" fmla="val 266667"/>
            </a:avLst>
          </a:prstGeom>
          <a:solidFill>
            <a:srgbClr val="B8C2D4"/>
          </a:solidFill>
          <a:ln w="6350">
            <a:solidFill>
              <a:srgbClr val="B8C2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" y="2039112"/>
            <a:ext cx="2770632" cy="1060704"/>
          </a:xfrm>
          <a:prstGeom prst="roundRect">
            <a:avLst>
              <a:gd name="adj" fmla="val 13793"/>
            </a:avLst>
          </a:prstGeom>
          <a:solidFill>
            <a:srgbClr val="315CF5"/>
          </a:solidFill>
          <a:ln w="6350">
            <a:solidFill>
              <a:srgbClr val="315C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212848"/>
            <a:ext cx="2176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2624328"/>
            <a:ext cx="2221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Temukan karier impianmu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61872" y="3291840"/>
            <a:ext cx="2468880" cy="429768"/>
          </a:xfrm>
          <a:prstGeom prst="roundRect">
            <a:avLst>
              <a:gd name="adj" fmla="val 3404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53896" y="3419856"/>
            <a:ext cx="19933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 pekerjaan...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39867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Lowongan untukmu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16152" y="4315968"/>
            <a:ext cx="260604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4480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15CF5"/>
          </a:solidFill>
          <a:ln w="6350">
            <a:solidFill>
              <a:srgbClr val="315C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49884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84248" y="4416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Engineer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84248" y="473659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Kreasi Data  •  Bandung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1216152" y="5230368"/>
            <a:ext cx="260604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5394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654D4"/>
          </a:solidFill>
          <a:ln w="6350">
            <a:solidFill>
              <a:srgbClr val="765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541324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984248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84248" y="565099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Studio Cipta  •  Remote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782312" y="2240280"/>
            <a:ext cx="6236208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75504" y="256946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Ciri visual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202936" y="3346704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3227832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Dominasi biru dan putih memberi kesan profesional.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02936" y="3950208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95544" y="3831336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Pencarian ditempatkan di area atas agar mudah terlihat.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02936" y="4553712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95544" y="4434840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Kartu lowongan mengutamakan posisi, perusahaan, dan lokasi.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02936" y="5157216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95544" y="5038344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Cocok sebagai desain utama untuk pengembangan awal.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6350">
            <a:solidFill>
              <a:srgbClr val="F4F7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ALTERNATIF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Desain B — Fresh Hijau Toska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Karakter: ringan, ramah, dan modern. Cocok untuk mahasiswa serta fresh graduate.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501384"/>
            <a:ext cx="10927080" cy="22860"/>
          </a:xfrm>
          <a:prstGeom prst="rect">
            <a:avLst/>
          </a:prstGeom>
          <a:solidFill>
            <a:srgbClr val="D8DFEB"/>
          </a:solidFill>
          <a:ln w="6350">
            <a:solidFill>
              <a:srgbClr val="D8D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  •  KONSEP DESAIN APLIKASI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938528"/>
            <a:ext cx="2971800" cy="4279392"/>
          </a:xfrm>
          <a:prstGeom prst="roundRect">
            <a:avLst>
              <a:gd name="adj" fmla="val 7692"/>
            </a:avLst>
          </a:prstGeom>
          <a:solidFill>
            <a:srgbClr val="DAE1ED"/>
          </a:solidFill>
          <a:ln w="6350">
            <a:solidFill>
              <a:srgbClr val="DAE1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2011680"/>
            <a:ext cx="2843784" cy="4133088"/>
          </a:xfrm>
          <a:prstGeom prst="roundRect">
            <a:avLst>
              <a:gd name="adj" fmla="val 7395"/>
            </a:avLst>
          </a:prstGeom>
          <a:solidFill>
            <a:srgbClr val="F1FAF8"/>
          </a:solidFill>
          <a:ln w="6350">
            <a:solidFill>
              <a:srgbClr val="F1FA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5406" y="2048256"/>
            <a:ext cx="772668" cy="54864"/>
          </a:xfrm>
          <a:prstGeom prst="roundRect">
            <a:avLst>
              <a:gd name="adj" fmla="val 266667"/>
            </a:avLst>
          </a:prstGeom>
          <a:solidFill>
            <a:srgbClr val="B8C2D4"/>
          </a:solidFill>
          <a:ln w="6350">
            <a:solidFill>
              <a:srgbClr val="B8C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2951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9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Hi! Siap bekerja?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6791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Jelajahi peluang hari ini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25296" y="3099816"/>
            <a:ext cx="2523744" cy="621792"/>
          </a:xfrm>
          <a:prstGeom prst="roundRect">
            <a:avLst>
              <a:gd name="adj" fmla="val 23529"/>
            </a:avLst>
          </a:prstGeom>
          <a:solidFill>
            <a:srgbClr val="D9F2EA"/>
          </a:solidFill>
          <a:ln w="6350">
            <a:solidFill>
              <a:srgbClr val="D9F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9888" y="3310128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C9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 lowongan impian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07008" y="3904488"/>
            <a:ext cx="950976" cy="320040"/>
          </a:xfrm>
          <a:prstGeom prst="roundRect">
            <a:avLst>
              <a:gd name="adj" fmla="val 34286"/>
            </a:avLst>
          </a:prstGeom>
          <a:solidFill>
            <a:srgbClr val="0C9275"/>
          </a:solidFill>
          <a:ln w="6350">
            <a:solidFill>
              <a:srgbClr val="0C92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9182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76856" y="3904488"/>
            <a:ext cx="777240" cy="320040"/>
          </a:xfrm>
          <a:prstGeom prst="roundRect">
            <a:avLst>
              <a:gd name="adj" fmla="val 34286"/>
            </a:avLst>
          </a:prstGeom>
          <a:solidFill>
            <a:srgbClr val="70B9A9"/>
          </a:solidFill>
          <a:ln w="6350">
            <a:solidFill>
              <a:srgbClr val="70B9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0008" y="3918204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Magang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25296" y="441655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Pilihan terbaik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79576" y="4718304"/>
            <a:ext cx="2642616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35024" y="4882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C9275"/>
          </a:solidFill>
          <a:ln w="6350">
            <a:solidFill>
              <a:srgbClr val="0C92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35024" y="4901184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47672" y="48188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Marketing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47672" y="5138928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 Baru  •  Surabaya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1179576" y="5605272"/>
            <a:ext cx="2642616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35024" y="57698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854D"/>
          </a:solidFill>
          <a:ln w="6350">
            <a:solidFill>
              <a:srgbClr val="EF85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35024" y="5788152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947672" y="570585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Intern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47672" y="6025896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 Karier  •  Remote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782312" y="2240280"/>
            <a:ext cx="6236208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256946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Ciri visual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202936" y="3346704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5544" y="3227832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Warna toska memberi kesan segar dan mudah didekati.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02936" y="3950208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95544" y="3831336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Judul sapaan membuat pengalaman lebih personal.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02936" y="4553712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95544" y="4434840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cepat menonjolkan pilihan magang dan full-time.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02936" y="5157216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5544" y="5038344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Bagus untuk target pengguna awal karier.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6350">
            <a:solidFill>
              <a:srgbClr val="F4F7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ALTERNATIF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Desain C — Dark Premium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Karakter: berani, fokus, dan minimalis. Cocok bagi pengguna yang menyukai dark mode.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501384"/>
            <a:ext cx="10927080" cy="22860"/>
          </a:xfrm>
          <a:prstGeom prst="rect">
            <a:avLst/>
          </a:prstGeom>
          <a:solidFill>
            <a:srgbClr val="D8DFEB"/>
          </a:solidFill>
          <a:ln w="6350">
            <a:solidFill>
              <a:srgbClr val="D8D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  •  KONSEP DESAIN APLIKASI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938528"/>
            <a:ext cx="2971800" cy="4279392"/>
          </a:xfrm>
          <a:prstGeom prst="roundRect">
            <a:avLst>
              <a:gd name="adj" fmla="val 7692"/>
            </a:avLst>
          </a:prstGeom>
          <a:solidFill>
            <a:srgbClr val="364660"/>
          </a:solidFill>
          <a:ln w="6350">
            <a:solidFill>
              <a:srgbClr val="3646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2011680"/>
            <a:ext cx="2843784" cy="4133088"/>
          </a:xfrm>
          <a:prstGeom prst="roundRect">
            <a:avLst>
              <a:gd name="adj" fmla="val 7395"/>
            </a:avLst>
          </a:prstGeom>
          <a:solidFill>
            <a:srgbClr val="121B31"/>
          </a:solidFill>
          <a:ln w="6350">
            <a:solidFill>
              <a:srgbClr val="121B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5406" y="2048256"/>
            <a:ext cx="772668" cy="54864"/>
          </a:xfrm>
          <a:prstGeom prst="roundRect">
            <a:avLst>
              <a:gd name="adj" fmla="val 266667"/>
            </a:avLst>
          </a:prstGeom>
          <a:solidFill>
            <a:srgbClr val="B8C2D4"/>
          </a:solidFill>
          <a:ln w="6350">
            <a:solidFill>
              <a:srgbClr val="B8C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258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61872" y="2688336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Temukan kesempatan baru.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34440" y="3264408"/>
            <a:ext cx="2459736" cy="502920"/>
          </a:xfrm>
          <a:prstGeom prst="roundRect">
            <a:avLst>
              <a:gd name="adj" fmla="val 29091"/>
            </a:avLst>
          </a:prstGeom>
          <a:solidFill>
            <a:srgbClr val="2C3951"/>
          </a:solidFill>
          <a:ln w="6350">
            <a:solidFill>
              <a:srgbClr val="2C39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9032" y="3401568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 posisi kerja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25296" y="4041648"/>
            <a:ext cx="1042416" cy="320040"/>
          </a:xfrm>
          <a:prstGeom prst="roundRect">
            <a:avLst>
              <a:gd name="adj" fmla="val 34286"/>
            </a:avLst>
          </a:prstGeom>
          <a:solidFill>
            <a:srgbClr val="7654D4"/>
          </a:solidFill>
          <a:ln w="6350">
            <a:solidFill>
              <a:srgbClr val="765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40553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Teknologi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86584" y="4041648"/>
            <a:ext cx="896112" cy="320040"/>
          </a:xfrm>
          <a:prstGeom prst="roundRect">
            <a:avLst>
              <a:gd name="adj" fmla="val 34286"/>
            </a:avLst>
          </a:prstGeom>
          <a:solidFill>
            <a:srgbClr val="40506F"/>
          </a:solidFill>
          <a:ln w="6350">
            <a:solidFill>
              <a:srgbClr val="4050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9736" y="405536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4581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Rekomendasi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88720" y="4956048"/>
            <a:ext cx="2624328" cy="713232"/>
          </a:xfrm>
          <a:prstGeom prst="roundRect">
            <a:avLst>
              <a:gd name="adj" fmla="val 20513"/>
            </a:avLst>
          </a:prstGeom>
          <a:solidFill>
            <a:srgbClr val="25344D"/>
          </a:solidFill>
          <a:ln w="6350">
            <a:solidFill>
              <a:srgbClr val="2534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2456" y="50840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Designer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62456" y="5404104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5C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Awan Digital • Remote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88720" y="5769864"/>
            <a:ext cx="2624328" cy="347472"/>
          </a:xfrm>
          <a:prstGeom prst="roundRect">
            <a:avLst>
              <a:gd name="adj" fmla="val 42105"/>
            </a:avLst>
          </a:prstGeom>
          <a:solidFill>
            <a:srgbClr val="25344D"/>
          </a:solidFill>
          <a:ln w="6350">
            <a:solidFill>
              <a:srgbClr val="2534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2240280"/>
            <a:ext cx="6236208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256946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Ciri visual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202936" y="3346704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95544" y="3227832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Latar gelap mengurangi silau dalam kondisi minim cahaya.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02936" y="3950208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95544" y="3831336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Aksen ungu menonjolkan kategori dan tombol penting.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02936" y="4553712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95544" y="4434840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Tipografi kontras membuat informasi lebih mudah dipindai.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02936" y="5157216"/>
            <a:ext cx="109728" cy="10972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5544" y="5038344"/>
            <a:ext cx="5084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Sebaiknya menjadi opsi tema, bukan satu-satunya desain.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6350">
            <a:solidFill>
              <a:srgbClr val="F4F7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EVALUASI VISUAL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Perbandingan tiga desain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alternatif dapat dipilih berdasarkan target pengguna dan karakter produk.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501384"/>
            <a:ext cx="10927080" cy="22860"/>
          </a:xfrm>
          <a:prstGeom prst="rect">
            <a:avLst/>
          </a:prstGeom>
          <a:solidFill>
            <a:srgbClr val="D8DFEB"/>
          </a:solidFill>
          <a:ln w="6350">
            <a:solidFill>
              <a:srgbClr val="D8D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  •  KONSEP DESAIN APLIKASI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2121408"/>
            <a:ext cx="1920240" cy="530352"/>
          </a:xfrm>
          <a:prstGeom prst="rect">
            <a:avLst/>
          </a:prstGeom>
          <a:solidFill>
            <a:srgbClr val="101F3C"/>
          </a:solidFill>
          <a:ln w="6350">
            <a:solidFill>
              <a:srgbClr val="10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185416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87752" y="2121408"/>
            <a:ext cx="2880360" cy="530352"/>
          </a:xfrm>
          <a:prstGeom prst="rect">
            <a:avLst/>
          </a:prstGeom>
          <a:solidFill>
            <a:srgbClr val="101F3C"/>
          </a:solidFill>
          <a:ln w="6350">
            <a:solidFill>
              <a:srgbClr val="101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88336" y="218541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• Profesional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68112" y="2121408"/>
            <a:ext cx="2880360" cy="530352"/>
          </a:xfrm>
          <a:prstGeom prst="rect">
            <a:avLst/>
          </a:prstGeom>
          <a:solidFill>
            <a:srgbClr val="101F3C"/>
          </a:solidFill>
          <a:ln w="6350">
            <a:solidFill>
              <a:srgbClr val="10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68696" y="218541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• Fresh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48472" y="2121408"/>
            <a:ext cx="2834640" cy="530352"/>
          </a:xfrm>
          <a:prstGeom prst="rect">
            <a:avLst/>
          </a:prstGeom>
          <a:solidFill>
            <a:srgbClr val="101F3C"/>
          </a:solidFill>
          <a:ln w="6350">
            <a:solidFill>
              <a:srgbClr val="101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2185416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• Dark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" y="2688336"/>
            <a:ext cx="192024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752344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Kesan utama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2587752" y="2688336"/>
            <a:ext cx="288036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8336" y="2752344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&amp; tepercaya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468112" y="2688336"/>
            <a:ext cx="288036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68696" y="2752344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Ramah &amp; energik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348472" y="2688336"/>
            <a:ext cx="283464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9056" y="2752344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&amp; fokus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67512" y="3255264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331927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Warna dominan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2587752" y="3255264"/>
            <a:ext cx="2880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331927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Biru / putih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5468112" y="3255264"/>
            <a:ext cx="2880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331927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Toska / putih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8348472" y="3255264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9056" y="331927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Navy / ungu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67512" y="3822192"/>
            <a:ext cx="192024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388620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pengguna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2587752" y="3822192"/>
            <a:ext cx="288036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88336" y="3886200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 kerja umum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5468112" y="3822192"/>
            <a:ext cx="288036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68696" y="3886200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Mahasiswa &amp; lulusan baru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8348472" y="3822192"/>
            <a:ext cx="283464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49056" y="3886200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Pengguna dark mode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667512" y="4389120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" y="4453128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Kelebihan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2587752" y="4389120"/>
            <a:ext cx="2880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88336" y="4453128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mudah dibaca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5468112" y="4389120"/>
            <a:ext cx="2880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68696" y="4453128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Terasa hangat</a:t>
            </a:r>
            <a:endParaRPr lang="en-US" sz="1220" dirty="0"/>
          </a:p>
        </p:txBody>
      </p:sp>
      <p:sp>
        <p:nvSpPr>
          <p:cNvPr id="47" name="Shape 45"/>
          <p:cNvSpPr/>
          <p:nvPr/>
        </p:nvSpPr>
        <p:spPr>
          <a:xfrm>
            <a:off x="8348472" y="4389120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49056" y="445312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Kontras kuat</a:t>
            </a:r>
            <a:endParaRPr lang="en-US" sz="1220" dirty="0"/>
          </a:p>
        </p:txBody>
      </p:sp>
      <p:sp>
        <p:nvSpPr>
          <p:cNvPr id="49" name="Shape 47"/>
          <p:cNvSpPr/>
          <p:nvPr/>
        </p:nvSpPr>
        <p:spPr>
          <a:xfrm>
            <a:off x="667512" y="4956048"/>
            <a:ext cx="192024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8096" y="5020056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Pertimbangan</a:t>
            </a:r>
            <a:endParaRPr lang="en-US" sz="1220" dirty="0"/>
          </a:p>
        </p:txBody>
      </p:sp>
      <p:sp>
        <p:nvSpPr>
          <p:cNvPr id="51" name="Shape 49"/>
          <p:cNvSpPr/>
          <p:nvPr/>
        </p:nvSpPr>
        <p:spPr>
          <a:xfrm>
            <a:off x="2587752" y="4956048"/>
            <a:ext cx="288036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88336" y="502005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Tampilan cukup konvensional</a:t>
            </a:r>
            <a:endParaRPr lang="en-US" sz="1220" dirty="0"/>
          </a:p>
        </p:txBody>
      </p:sp>
      <p:sp>
        <p:nvSpPr>
          <p:cNvPr id="53" name="Shape 51"/>
          <p:cNvSpPr/>
          <p:nvPr/>
        </p:nvSpPr>
        <p:spPr>
          <a:xfrm>
            <a:off x="5468112" y="4956048"/>
            <a:ext cx="288036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68696" y="502005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Warna perlu dijaga konsisten</a:t>
            </a:r>
            <a:endParaRPr lang="en-US" sz="1220" dirty="0"/>
          </a:p>
        </p:txBody>
      </p:sp>
      <p:sp>
        <p:nvSpPr>
          <p:cNvPr id="55" name="Shape 53"/>
          <p:cNvSpPr/>
          <p:nvPr/>
        </p:nvSpPr>
        <p:spPr>
          <a:xfrm>
            <a:off x="8348472" y="4956048"/>
            <a:ext cx="2834640" cy="530352"/>
          </a:xfrm>
          <a:prstGeom prst="rect">
            <a:avLst/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49056" y="5020056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Aksesibilitas perlu diuji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6350">
            <a:solidFill>
              <a:srgbClr val="F4F7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15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PERENCANAAN PRODUK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Tahapan pengembangan aplikasi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Urutan implementasi agar LokerKu dapat dibangun dan diuji secara bertahap.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501384"/>
            <a:ext cx="10927080" cy="22860"/>
          </a:xfrm>
          <a:prstGeom prst="rect">
            <a:avLst/>
          </a:prstGeom>
          <a:solidFill>
            <a:srgbClr val="D8DFEB"/>
          </a:solidFill>
          <a:ln w="6350">
            <a:solidFill>
              <a:srgbClr val="D8D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  •  KONSEP DESAIN APLIKASI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2039112"/>
            <a:ext cx="384048" cy="38404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103120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62456" y="1965960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Riset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75888" y="1965960"/>
            <a:ext cx="7424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Identifikasi kebutuhan dan persona pengguna.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" y="2807208"/>
            <a:ext cx="384048" cy="384048"/>
          </a:xfrm>
          <a:prstGeom prst="ellipse">
            <a:avLst/>
          </a:prstGeom>
          <a:solidFill>
            <a:srgbClr val="0C9275"/>
          </a:solidFill>
          <a:ln w="12700">
            <a:solidFill>
              <a:srgbClr val="0C92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871216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62456" y="2734056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Desain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75888" y="2734056"/>
            <a:ext cx="7424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Susun wireframe, warna, navigasi, dan prototipe.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8952" y="3575304"/>
            <a:ext cx="384048" cy="38404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639312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62456" y="3502152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Implementasi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675888" y="3502152"/>
            <a:ext cx="7424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Bangun halaman pencarian, detail, dan profil.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8952" y="4343400"/>
            <a:ext cx="384048" cy="384048"/>
          </a:xfrm>
          <a:prstGeom prst="ellipse">
            <a:avLst/>
          </a:prstGeom>
          <a:solidFill>
            <a:srgbClr val="0C9275"/>
          </a:solidFill>
          <a:ln w="12700">
            <a:solidFill>
              <a:srgbClr val="0C92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4407408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62456" y="4270248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Pengujian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675888" y="4270248"/>
            <a:ext cx="7424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navigasi, filter, validasi, dan kemudahan penggunaan.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8952" y="5111496"/>
            <a:ext cx="384048" cy="384048"/>
          </a:xfrm>
          <a:prstGeom prst="ellipse">
            <a:avLst/>
          </a:prstGeom>
          <a:solidFill>
            <a:srgbClr val="315CF5"/>
          </a:solidFill>
          <a:ln w="12700">
            <a:solidFill>
              <a:srgbClr val="315C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175504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62456" y="5038344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Evaluasi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675888" y="5038344"/>
            <a:ext cx="7424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Perbaiki antarmuka berdasarkan umpan balik pengguna.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C"/>
          </a:solidFill>
          <a:ln w="6350">
            <a:solidFill>
              <a:srgbClr val="10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749808"/>
            <a:ext cx="1517904" cy="320040"/>
          </a:xfrm>
          <a:prstGeom prst="roundRect">
            <a:avLst>
              <a:gd name="adj" fmla="val 34286"/>
            </a:avLst>
          </a:prstGeom>
          <a:solidFill>
            <a:srgbClr val="315CF5"/>
          </a:solidFill>
          <a:ln w="6350">
            <a:solidFill>
              <a:srgbClr val="315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7635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KESIMPULAN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3232" y="1463040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 membantu pengguna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menemukan peluang kerja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dengan lebih terarah.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58952" y="4617720"/>
            <a:ext cx="9985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EE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Rekomendasi: mulai dari Desain A sebagai antarmuka utama, gunakan pendekatan ramah Desain B untuk onboarding, dan siapkan Desain C sebagai opsi dark mode.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0664" y="6199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1C6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TERIMA KASIH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LokerKu — Konsep dan Alternatif Desain Aplikasi</dc:title>
  <dc:subject>Konsep aplikasi pencarian kerja LokerKu</dc:subject>
  <dc:creator>OpenAI</dc:creator>
  <cp:lastModifiedBy>OpenAI</cp:lastModifiedBy>
  <cp:revision>1</cp:revision>
  <dcterms:created xsi:type="dcterms:W3CDTF">2026-10-13T10:13:37Z</dcterms:created>
  <dcterms:modified xsi:type="dcterms:W3CDTF">2026-10-13T10:13:37Z</dcterms:modified>
</cp:coreProperties>
</file>